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7380" y="1147259"/>
            <a:ext cx="6565643" cy="157827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1. Model fitting (World model 3종)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3455" y="3167457"/>
            <a:ext cx="8297241" cy="34631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  <a:r>
              <a:rPr sz="1000">
                <a:solidFill>
                  <a:srgbClr val="000000"/>
                </a:solidFill>
              </a:rPr>
              <a:t>2. Data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29628" y="3708581"/>
            <a:ext cx="6204893" cy="238094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525" rIns="9525" tIns="9525" bIns="9525"/>
          <a:lstStyle/>
          <a:p>
            <a:pPr algn="l"/>
          </a:p>
        </p:txBody>
      </p:sp>
      <p:sp>
        <p:nvSpPr>
          <p:cNvPr id="5" name="Rectangle 4"/>
          <p:cNvSpPr/>
          <p:nvPr/>
        </p:nvSpPr>
        <p:spPr>
          <a:xfrm>
            <a:off x="8729472" y="353610"/>
            <a:ext cx="1506130" cy="1145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Data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44777" y="209310"/>
            <a:ext cx="1298699" cy="3607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{(o_t,a_t,r_t)_t=k^L+k}_i=1^B</a:t>
            </a:r>
          </a:p>
        </p:txBody>
      </p:sp>
      <p:sp>
        <p:nvSpPr>
          <p:cNvPr id="7" name="Rectangle 6"/>
          <p:cNvSpPr/>
          <p:nvPr/>
        </p:nvSpPr>
        <p:spPr>
          <a:xfrm>
            <a:off x="3967577" y="1508008"/>
            <a:ext cx="1587298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Loss 계산 (latent overshooting)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895428" y="2049133"/>
            <a:ext cx="577199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θ 업데이트</a:t>
            </a:r>
          </a:p>
        </p:txBody>
      </p:sp>
      <p:sp>
        <p:nvSpPr>
          <p:cNvPr id="9" name="Rectangle 8"/>
          <p:cNvSpPr/>
          <p:nvPr/>
        </p:nvSpPr>
        <p:spPr>
          <a:xfrm>
            <a:off x="4761227" y="1832683"/>
            <a:ext cx="2164498" cy="64934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latent overshooting loss 수식 (7)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89649" y="1580158"/>
            <a:ext cx="1506130" cy="11453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[아이콘] (c) Recurrent state-space model (RSSM) figure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5979" y="4935130"/>
            <a:ext cx="288600" cy="21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o1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1778" y="4682605"/>
            <a:ext cx="1082249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Encoder q(s_t|o_&lt;=t, a_&lt;t)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08702" y="4682605"/>
            <a:ext cx="1370848" cy="7214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Planner a_t = Planner(s_t, P)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25" y="4466155"/>
            <a:ext cx="1154399" cy="11543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action 선별 환경에서 상상롤아웃해서 v_t^k, o_t+1^k 고르기 a_t R번 반복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02923" y="4754755"/>
            <a:ext cx="1442998" cy="5771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v_t, o_t+1 &lt;- Σ_k=1^R v_t^k, o_t+1^R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50971" y="4899055"/>
            <a:ext cx="721499" cy="28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" rIns="9525" tIns="9525" bIns="9525"/>
          <a:lstStyle/>
          <a:p>
            <a:pPr algn="ctr"/>
            <a:r>
              <a:rPr sz="1000">
                <a:solidFill>
                  <a:srgbClr val="000000"/>
                </a:solidFill>
              </a:rPr>
              <a:t>[수식] {(o_t,a_t,r_t)}_t=1^T</a:t>
            </a:r>
          </a:p>
        </p:txBody>
      </p:sp>
      <p:cxnSp>
        <p:nvCxnSpPr>
          <p:cNvPr id="17" name="Connector 16"/>
          <p:cNvCxnSpPr>
            <a:stCxn id="5" idx="1"/>
            <a:endCxn id="2" idx="3"/>
          </p:cNvCxnSpPr>
          <p:nvPr/>
        </p:nvCxnSpPr>
        <p:spPr>
          <a:xfrm flipH="1">
            <a:off x="8513023" y="926300"/>
            <a:ext cx="216449" cy="1010098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7" idx="1"/>
            <a:endCxn id="8" idx="3"/>
          </p:cNvCxnSpPr>
          <p:nvPr/>
        </p:nvCxnSpPr>
        <p:spPr>
          <a:xfrm>
            <a:off x="3967577" y="1616233"/>
            <a:ext cx="505050" cy="54112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1" idx="3"/>
            <a:endCxn id="12" idx="1"/>
          </p:cNvCxnSpPr>
          <p:nvPr/>
        </p:nvCxnSpPr>
        <p:spPr>
          <a:xfrm flipV="1">
            <a:off x="2524579" y="5043354"/>
            <a:ext cx="577199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2" idx="3"/>
            <a:endCxn id="13" idx="1"/>
          </p:cNvCxnSpPr>
          <p:nvPr/>
        </p:nvCxnSpPr>
        <p:spPr>
          <a:xfrm>
            <a:off x="4184027" y="504335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3" idx="3"/>
            <a:endCxn id="14" idx="1"/>
          </p:cNvCxnSpPr>
          <p:nvPr/>
        </p:nvCxnSpPr>
        <p:spPr>
          <a:xfrm>
            <a:off x="5879550" y="5043354"/>
            <a:ext cx="324675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3"/>
            <a:endCxn id="15" idx="1"/>
          </p:cNvCxnSpPr>
          <p:nvPr/>
        </p:nvCxnSpPr>
        <p:spPr>
          <a:xfrm>
            <a:off x="7358624" y="5043354"/>
            <a:ext cx="14429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5" idx="3"/>
            <a:endCxn id="16" idx="1"/>
          </p:cNvCxnSpPr>
          <p:nvPr/>
        </p:nvCxnSpPr>
        <p:spPr>
          <a:xfrm>
            <a:off x="8945921" y="5043354"/>
            <a:ext cx="505050" cy="1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5" idx="1"/>
            <a:endCxn id="12" idx="3"/>
          </p:cNvCxnSpPr>
          <p:nvPr/>
        </p:nvCxnSpPr>
        <p:spPr>
          <a:xfrm flipH="1">
            <a:off x="4184027" y="5043354"/>
            <a:ext cx="3318896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6" idx="0"/>
            <a:endCxn id="5" idx="2"/>
          </p:cNvCxnSpPr>
          <p:nvPr/>
        </p:nvCxnSpPr>
        <p:spPr>
          <a:xfrm flipH="1" flipV="1">
            <a:off x="9482537" y="1498990"/>
            <a:ext cx="329183" cy="3400065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85966" y="1359199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C번 반복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1083" y="4971204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s_t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6606" y="4971204"/>
            <a:ext cx="270562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a_t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7632" y="4971204"/>
            <a:ext cx="811687" cy="144300"/>
          </a:xfrm>
          <a:prstGeom prst="rect">
            <a:avLst/>
          </a:prstGeom>
          <a:noFill/>
        </p:spPr>
        <p:txBody>
          <a:bodyPr wrap="square" anchor="ctr" lIns="9525" rIns="9525" tIns="9525" bIns="9525">
            <a:spAutoFit/>
          </a:bodyPr>
          <a:lstStyle/>
          <a:p>
            <a:pPr algn="ctr"/>
            <a:r>
              <a:rPr sz="1000">
                <a:solidFill>
                  <a:srgbClr val="000000"/>
                </a:solidFill>
              </a:rPr>
              <a:t>Loop t=1 ... ⌈T/R⌉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6177" y="5404104"/>
            <a:ext cx="101009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transition, reward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39727" y="5692704"/>
            <a:ext cx="1875898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Add exploration noise ε~p(ε) to the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3278" y="2373807"/>
            <a:ext cx="793649" cy="14430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model 3개 앙상블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3574" y="1219409"/>
            <a:ext cx="1587298" cy="216450"/>
          </a:xfrm>
          <a:prstGeom prst="rect">
            <a:avLst/>
          </a:prstGeom>
          <a:noFill/>
        </p:spPr>
        <p:txBody>
          <a:bodyPr wrap="square" anchor="t" lIns="9525" rIns="9525" tIns="9525" bIns="9525">
            <a:spAutoFit/>
          </a:bodyPr>
          <a:lstStyle/>
          <a:p>
            <a:pPr algn="l"/>
            <a:r>
              <a:rPr sz="1000">
                <a:solidFill>
                  <a:srgbClr val="000000"/>
                </a:solidFill>
              </a:rPr>
              <a:t>RSSM 구성하는 안정적 형태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