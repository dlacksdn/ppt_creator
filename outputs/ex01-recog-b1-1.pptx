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3655" y="225979"/>
            <a:ext cx="11013509" cy="648375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877906" y="392514"/>
            <a:ext cx="10525006" cy="286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WHAT : Model Architecture (structure only)</a:t>
            </a:r>
          </a:p>
        </p:txBody>
      </p:sp>
      <p:sp>
        <p:nvSpPr>
          <p:cNvPr id="4" name="Rectangle 3"/>
          <p:cNvSpPr/>
          <p:nvPr/>
        </p:nvSpPr>
        <p:spPr>
          <a:xfrm>
            <a:off x="877906" y="3412347"/>
            <a:ext cx="10680439" cy="286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HOW : Multi-Phase Training then Inference (Style-Action Decoupling)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339" y="847709"/>
            <a:ext cx="2398103" cy="213164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Data Source : GF-Minecraft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31125" y="847709"/>
            <a:ext cx="7460764" cy="222046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Latent Video Diffusion Transformer (VAE compression r=4)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5543" y="4455965"/>
            <a:ext cx="1454405" cy="16653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Phase #0 Pre-train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98372" y="4455965"/>
            <a:ext cx="1454405" cy="16653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Phase #1 Train LoRA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7656" y="4455965"/>
            <a:ext cx="1454405" cy="16653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Phase #2 Train Action Module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38670" y="4455965"/>
            <a:ext cx="1454405" cy="16653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Phase #3 Inference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0177" y="1647076"/>
            <a:ext cx="5062661" cy="142109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Action Control Module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43888" y="1202983"/>
            <a:ext cx="977005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MineDojo Simulator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8613" y="1735895"/>
            <a:ext cx="1687554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Unbiased Atomic Actions (uniform dist.)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7116" y="2179988"/>
            <a:ext cx="621730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MiniCPM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77432" y="2446444"/>
            <a:ext cx="1509916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GF-Minecraft Dataset (video, keyboard K, Mouse M, Prompt 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41358" y="1114165"/>
            <a:ext cx="5950847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Backbone Feature F (intermediate latent - prompt already fused)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30177" y="1913532"/>
            <a:ext cx="799368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Mouse Movement 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0409" y="1891328"/>
            <a:ext cx="710549" cy="210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Grouping (w=3)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50642" y="1824714"/>
            <a:ext cx="621730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Repeat (align length)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2135" y="1891328"/>
            <a:ext cx="821572" cy="2331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Concatenate with 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49061" y="1735895"/>
            <a:ext cx="532912" cy="532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MLP -&gt; Temporal Self-Attention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586" y="2535263"/>
            <a:ext cx="710549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Keyboard Action 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0409" y="2490853"/>
            <a:ext cx="710549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Embed + Pos. Encoding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6233" y="2513058"/>
            <a:ext cx="710549" cy="210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Grouping (w=3)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0875" y="2446444"/>
            <a:ext cx="977005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Cross-Attention (K=Key/Value, F=Query)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14884" y="1913532"/>
            <a:ext cx="532912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Fused Feature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7748" y="3734314"/>
            <a:ext cx="1409996" cy="44409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Open-Domain Data (internet videos, no action labels)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88613" y="4900058"/>
            <a:ext cx="810470" cy="24425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Base 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20576" y="3734314"/>
            <a:ext cx="1409996" cy="44409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GF-Minecraft (action-labeled)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0339" y="4911161"/>
            <a:ext cx="821572" cy="2331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Base 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31441" y="5255333"/>
            <a:ext cx="810470" cy="24425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LoRA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29860" y="3734314"/>
            <a:ext cx="1409996" cy="44409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GF-Minecraft (action-labeled)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29623" y="4911161"/>
            <a:ext cx="821572" cy="2331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Base Model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40726" y="5255333"/>
            <a:ext cx="810470" cy="24425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LoRA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40726" y="5643914"/>
            <a:ext cx="799368" cy="35527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Action Control Module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50326" y="3867542"/>
            <a:ext cx="532912" cy="17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Keyboard / Mouse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0875" y="3689905"/>
            <a:ext cx="1421098" cy="532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Open-Domain Prompt (new unseen scene)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60638" y="4911161"/>
            <a:ext cx="821572" cy="2331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Base Model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60638" y="5266435"/>
            <a:ext cx="821572" cy="2331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LoRA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27331" y="5688324"/>
            <a:ext cx="888186" cy="266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Action Control Module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37247" y="5288640"/>
            <a:ext cx="1421098" cy="7105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Output Action-Controllable Open-Domain Game Video</a:t>
            </a:r>
          </a:p>
        </p:txBody>
      </p:sp>
      <p:cxnSp>
        <p:nvCxnSpPr>
          <p:cNvPr id="42" name="Connector 41"/>
          <p:cNvCxnSpPr>
            <a:stCxn id="12" idx="2"/>
            <a:endCxn id="13" idx="0"/>
          </p:cNvCxnSpPr>
          <p:nvPr/>
        </p:nvCxnSpPr>
        <p:spPr>
          <a:xfrm>
            <a:off x="2232390" y="1469439"/>
            <a:ext cx="0" cy="26645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>
            <a:stCxn id="13" idx="2"/>
            <a:endCxn id="14" idx="0"/>
          </p:cNvCxnSpPr>
          <p:nvPr/>
        </p:nvCxnSpPr>
        <p:spPr>
          <a:xfrm flipH="1">
            <a:off x="2187981" y="2002351"/>
            <a:ext cx="44409" cy="177637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>
            <a:stCxn id="14" idx="2"/>
            <a:endCxn id="15" idx="0"/>
          </p:cNvCxnSpPr>
          <p:nvPr/>
        </p:nvCxnSpPr>
        <p:spPr>
          <a:xfrm>
            <a:off x="2187981" y="2357625"/>
            <a:ext cx="44409" cy="8881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>
            <a:stCxn id="16" idx="2"/>
            <a:endCxn id="11" idx="0"/>
          </p:cNvCxnSpPr>
          <p:nvPr/>
        </p:nvCxnSpPr>
        <p:spPr>
          <a:xfrm flipH="1">
            <a:off x="7561507" y="1380621"/>
            <a:ext cx="355274" cy="26645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>
            <a:stCxn id="26" idx="1"/>
            <a:endCxn id="16" idx="3"/>
          </p:cNvCxnSpPr>
          <p:nvPr/>
        </p:nvCxnSpPr>
        <p:spPr>
          <a:xfrm flipV="1">
            <a:off x="10314884" y="1247393"/>
            <a:ext cx="577321" cy="754957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>
            <a:stCxn id="17" idx="3"/>
            <a:endCxn id="18" idx="1"/>
          </p:cNvCxnSpPr>
          <p:nvPr/>
        </p:nvCxnSpPr>
        <p:spPr>
          <a:xfrm flipV="1">
            <a:off x="5829545" y="1996800"/>
            <a:ext cx="310864" cy="55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>
            <a:stCxn id="18" idx="3"/>
            <a:endCxn id="19" idx="1"/>
          </p:cNvCxnSpPr>
          <p:nvPr/>
        </p:nvCxnSpPr>
        <p:spPr>
          <a:xfrm>
            <a:off x="6850958" y="1996800"/>
            <a:ext cx="399684" cy="555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>
            <a:stCxn id="19" idx="3"/>
            <a:endCxn id="20" idx="1"/>
          </p:cNvCxnSpPr>
          <p:nvPr/>
        </p:nvCxnSpPr>
        <p:spPr>
          <a:xfrm>
            <a:off x="7872372" y="2002351"/>
            <a:ext cx="299763" cy="555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>
            <a:stCxn id="20" idx="3"/>
            <a:endCxn id="21" idx="1"/>
          </p:cNvCxnSpPr>
          <p:nvPr/>
        </p:nvCxnSpPr>
        <p:spPr>
          <a:xfrm flipV="1">
            <a:off x="8993707" y="2002351"/>
            <a:ext cx="255354" cy="555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>
            <a:stCxn id="21" idx="3"/>
            <a:endCxn id="26" idx="1"/>
          </p:cNvCxnSpPr>
          <p:nvPr/>
        </p:nvCxnSpPr>
        <p:spPr>
          <a:xfrm flipV="1">
            <a:off x="9781973" y="2002350"/>
            <a:ext cx="532911" cy="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>
            <a:stCxn id="22" idx="3"/>
            <a:endCxn id="23" idx="1"/>
          </p:cNvCxnSpPr>
          <p:nvPr/>
        </p:nvCxnSpPr>
        <p:spPr>
          <a:xfrm>
            <a:off x="5785135" y="2624081"/>
            <a:ext cx="355274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>
            <a:stCxn id="23" idx="3"/>
            <a:endCxn id="24" idx="1"/>
          </p:cNvCxnSpPr>
          <p:nvPr/>
        </p:nvCxnSpPr>
        <p:spPr>
          <a:xfrm flipV="1">
            <a:off x="6850958" y="2618530"/>
            <a:ext cx="355275" cy="555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>
            <a:stCxn id="24" idx="3"/>
            <a:endCxn id="25" idx="1"/>
          </p:cNvCxnSpPr>
          <p:nvPr/>
        </p:nvCxnSpPr>
        <p:spPr>
          <a:xfrm>
            <a:off x="7916782" y="2618530"/>
            <a:ext cx="444093" cy="555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>
            <a:stCxn id="25" idx="3"/>
            <a:endCxn id="26" idx="1"/>
          </p:cNvCxnSpPr>
          <p:nvPr/>
        </p:nvCxnSpPr>
        <p:spPr>
          <a:xfrm flipV="1">
            <a:off x="9337880" y="2002350"/>
            <a:ext cx="977004" cy="62173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>
            <a:stCxn id="27" idx="2"/>
            <a:endCxn id="7" idx="0"/>
          </p:cNvCxnSpPr>
          <p:nvPr/>
        </p:nvCxnSpPr>
        <p:spPr>
          <a:xfrm flipH="1">
            <a:off x="1782745" y="4178407"/>
            <a:ext cx="1" cy="27755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>
            <a:stCxn id="29" idx="2"/>
            <a:endCxn id="8" idx="0"/>
          </p:cNvCxnSpPr>
          <p:nvPr/>
        </p:nvCxnSpPr>
        <p:spPr>
          <a:xfrm>
            <a:off x="3825574" y="4178407"/>
            <a:ext cx="0" cy="27755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>
            <a:stCxn id="32" idx="2"/>
            <a:endCxn id="9" idx="0"/>
          </p:cNvCxnSpPr>
          <p:nvPr/>
        </p:nvCxnSpPr>
        <p:spPr>
          <a:xfrm>
            <a:off x="6134858" y="4178407"/>
            <a:ext cx="0" cy="27755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>
            <a:stCxn id="37" idx="2"/>
            <a:endCxn id="10" idx="0"/>
          </p:cNvCxnSpPr>
          <p:nvPr/>
        </p:nvCxnSpPr>
        <p:spPr>
          <a:xfrm flipH="1">
            <a:off x="9065872" y="4222817"/>
            <a:ext cx="5552" cy="23314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>
            <a:stCxn id="7" idx="3"/>
            <a:endCxn id="8" idx="1"/>
          </p:cNvCxnSpPr>
          <p:nvPr/>
        </p:nvCxnSpPr>
        <p:spPr>
          <a:xfrm>
            <a:off x="2509948" y="5288639"/>
            <a:ext cx="588424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>
            <a:stCxn id="8" idx="3"/>
            <a:endCxn id="9" idx="1"/>
          </p:cNvCxnSpPr>
          <p:nvPr/>
        </p:nvCxnSpPr>
        <p:spPr>
          <a:xfrm>
            <a:off x="4552777" y="5288639"/>
            <a:ext cx="854879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>
            <a:stCxn id="36" idx="2"/>
            <a:endCxn id="10" idx="0"/>
          </p:cNvCxnSpPr>
          <p:nvPr/>
        </p:nvCxnSpPr>
        <p:spPr>
          <a:xfrm>
            <a:off x="7916782" y="4045179"/>
            <a:ext cx="1149090" cy="41078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>
            <a:stCxn id="10" idx="3"/>
            <a:endCxn id="41" idx="1"/>
          </p:cNvCxnSpPr>
          <p:nvPr/>
        </p:nvCxnSpPr>
        <p:spPr>
          <a:xfrm>
            <a:off x="9793075" y="5288639"/>
            <a:ext cx="344172" cy="35527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572610" y="1425030"/>
            <a:ext cx="333070" cy="177637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Down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37010" y="1536053"/>
            <a:ext cx="333070" cy="177637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Up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04555" y="5199821"/>
            <a:ext cx="999209" cy="177637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copy trained model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80611" y="5199821"/>
            <a:ext cx="999209" cy="177637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copy trained model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137247" y="3512267"/>
            <a:ext cx="1421098" cy="133227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203861" y="3678802"/>
            <a:ext cx="199842" cy="19984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437010" y="3578881"/>
            <a:ext cx="1054721" cy="399684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Trainable (training only)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203861" y="4078486"/>
            <a:ext cx="199842" cy="19984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437010" y="3978565"/>
            <a:ext cx="1054721" cy="399684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Frozen (training only)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203861" y="4478170"/>
            <a:ext cx="199842" cy="19984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437010" y="4378249"/>
            <a:ext cx="1054721" cy="399684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Used in inference (no training)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0111" y="3423449"/>
            <a:ext cx="1954010" cy="177637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(All phases operate on the architecture in WHAT)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74586" y="1735895"/>
            <a:ext cx="532912" cy="88819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(Continuous)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63405" y="2357625"/>
            <a:ext cx="444093" cy="88819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(discrete)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75851" y="5910370"/>
            <a:ext cx="977005" cy="177637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LoRA plugged in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04968" y="5999189"/>
            <a:ext cx="799368" cy="177637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LoRA Removed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17414" y="4400454"/>
            <a:ext cx="355274" cy="88819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Training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50326" y="4400454"/>
            <a:ext cx="355274" cy="88819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Inference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