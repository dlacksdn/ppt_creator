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3655" y="225979"/>
            <a:ext cx="11013509" cy="648375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811292" y="403616"/>
            <a:ext cx="10480597" cy="28421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WHAT : Model Architecture (structure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811292" y="3423449"/>
            <a:ext cx="10747053" cy="28421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HOW : Multi-Phase Training then Inference (Style-Action Decoupling)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7748" y="847709"/>
            <a:ext cx="2398103" cy="21316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Data Source : GF-Minecraft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31125" y="847709"/>
            <a:ext cx="7460764" cy="222046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Latent Video Diffusion Transformer (VAE compression r=4)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7748" y="4400454"/>
            <a:ext cx="1421098" cy="16875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Phase #0 Pre-train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9395" y="4489272"/>
            <a:ext cx="1421098" cy="16875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Phase #1 Train LoRA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1042" y="4489272"/>
            <a:ext cx="1421098" cy="16875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Phase #2 Train Action 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0875" y="4489272"/>
            <a:ext cx="1421098" cy="159873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Phase #3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5767" y="1647076"/>
            <a:ext cx="5062661" cy="1421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9478" y="1202983"/>
            <a:ext cx="977005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MineDojo Simulator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33023" y="1735895"/>
            <a:ext cx="1687554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Unbiased Atomic Actions (uniform dist.)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7116" y="2179988"/>
            <a:ext cx="621730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900">
                <a:solidFill>
                  <a:srgbClr val="000000"/>
                </a:solidFill>
              </a:rPr>
              <a:t>MiniCPM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1841" y="2535263"/>
            <a:ext cx="1509916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GF-Minecraft Dataset (video, keyboard K, Mouse M, Prompt 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5767" y="1114165"/>
            <a:ext cx="5950847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Backbone Feature F (intermediate latent - prompt already fused)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586" y="1913532"/>
            <a:ext cx="799368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600">
                <a:solidFill>
                  <a:srgbClr val="000000"/>
                </a:solidFill>
              </a:rPr>
              <a:t>Mouse Movement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0409" y="1913532"/>
            <a:ext cx="710549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6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6233" y="1913532"/>
            <a:ext cx="621730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Repeat (align length)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238" y="1913532"/>
            <a:ext cx="799368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500">
                <a:solidFill>
                  <a:srgbClr val="000000"/>
                </a:solidFill>
              </a:rPr>
              <a:t>Concatenate with 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49061" y="1824714"/>
            <a:ext cx="532912" cy="532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800">
                <a:solidFill>
                  <a:srgbClr val="000000"/>
                </a:solidFill>
              </a:rPr>
              <a:t>MLP -&gt; Temporal Self-Attention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5767" y="2535263"/>
            <a:ext cx="710549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500">
                <a:solidFill>
                  <a:srgbClr val="000000"/>
                </a:solidFill>
              </a:rPr>
              <a:t>Keyboard Action 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409" y="2357625"/>
            <a:ext cx="710549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Embed + Pos. Encoding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6233" y="2446444"/>
            <a:ext cx="710549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6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0875" y="2357625"/>
            <a:ext cx="977005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Cross-Attention (K=Key/Value, F=Query)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14884" y="1913532"/>
            <a:ext cx="532912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500">
                <a:solidFill>
                  <a:srgbClr val="000000"/>
                </a:solidFill>
              </a:rPr>
              <a:t>Fused Feature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7748" y="3689905"/>
            <a:ext cx="1421098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900">
                <a:solidFill>
                  <a:srgbClr val="000000"/>
                </a:solidFill>
              </a:rPr>
              <a:t>Open-Domain Data (internet videos, no action labels)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44204" y="4933365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9395" y="3689905"/>
            <a:ext cx="1421098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5851" y="4933365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5851" y="5288640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1042" y="3778723"/>
            <a:ext cx="1421098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96316" y="4933365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316" y="5288640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96316" y="5643914"/>
            <a:ext cx="799368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9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50326" y="3867542"/>
            <a:ext cx="532912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500">
                <a:solidFill>
                  <a:srgbClr val="000000"/>
                </a:solidFill>
              </a:rPr>
              <a:t>Keyboard / Mouse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0875" y="3689905"/>
            <a:ext cx="1421098" cy="532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Open-Domain Prompt (new unseen scene)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16149" y="4933365"/>
            <a:ext cx="888186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16149" y="5288640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16149" y="5643914"/>
            <a:ext cx="888186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37247" y="5288640"/>
            <a:ext cx="1421098" cy="7105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Output Action-Controllable Open-Domain Game Video</a:t>
            </a:r>
          </a:p>
        </p:txBody>
      </p:sp>
      <p:cxnSp>
        <p:nvCxnSpPr>
          <p:cNvPr id="42" name="Connector 41"/>
          <p:cNvCxnSpPr>
            <a:stCxn id="12" idx="2"/>
            <a:endCxn id="13" idx="0"/>
          </p:cNvCxnSpPr>
          <p:nvPr/>
        </p:nvCxnSpPr>
        <p:spPr>
          <a:xfrm>
            <a:off x="2187980" y="1469439"/>
            <a:ext cx="88820" cy="2664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13" idx="2"/>
            <a:endCxn id="14" idx="0"/>
          </p:cNvCxnSpPr>
          <p:nvPr/>
        </p:nvCxnSpPr>
        <p:spPr>
          <a:xfrm flipH="1">
            <a:off x="2187981" y="2002351"/>
            <a:ext cx="88819" cy="17763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14" idx="2"/>
            <a:endCxn id="15" idx="0"/>
          </p:cNvCxnSpPr>
          <p:nvPr/>
        </p:nvCxnSpPr>
        <p:spPr>
          <a:xfrm>
            <a:off x="2187981" y="2357625"/>
            <a:ext cx="88818" cy="17763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16" idx="2"/>
            <a:endCxn id="11" idx="0"/>
          </p:cNvCxnSpPr>
          <p:nvPr/>
        </p:nvCxnSpPr>
        <p:spPr>
          <a:xfrm flipH="1">
            <a:off x="7517097" y="1380621"/>
            <a:ext cx="444093" cy="26645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26" idx="1"/>
            <a:endCxn id="16" idx="3"/>
          </p:cNvCxnSpPr>
          <p:nvPr/>
        </p:nvCxnSpPr>
        <p:spPr>
          <a:xfrm flipV="1">
            <a:off x="10314884" y="1247393"/>
            <a:ext cx="621730" cy="75495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17" idx="3"/>
            <a:endCxn id="18" idx="1"/>
          </p:cNvCxnSpPr>
          <p:nvPr/>
        </p:nvCxnSpPr>
        <p:spPr>
          <a:xfrm>
            <a:off x="5873954" y="2002350"/>
            <a:ext cx="266455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18" idx="3"/>
            <a:endCxn id="19" idx="1"/>
          </p:cNvCxnSpPr>
          <p:nvPr/>
        </p:nvCxnSpPr>
        <p:spPr>
          <a:xfrm>
            <a:off x="6850958" y="2002350"/>
            <a:ext cx="355275" cy="8881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19" idx="3"/>
            <a:endCxn id="20" idx="1"/>
          </p:cNvCxnSpPr>
          <p:nvPr/>
        </p:nvCxnSpPr>
        <p:spPr>
          <a:xfrm flipV="1">
            <a:off x="7827963" y="2002350"/>
            <a:ext cx="355275" cy="8881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stCxn id="20" idx="3"/>
            <a:endCxn id="21" idx="1"/>
          </p:cNvCxnSpPr>
          <p:nvPr/>
        </p:nvCxnSpPr>
        <p:spPr>
          <a:xfrm>
            <a:off x="8982606" y="2002350"/>
            <a:ext cx="266455" cy="8882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stCxn id="21" idx="3"/>
            <a:endCxn id="26" idx="1"/>
          </p:cNvCxnSpPr>
          <p:nvPr/>
        </p:nvCxnSpPr>
        <p:spPr>
          <a:xfrm flipV="1">
            <a:off x="9781973" y="2002350"/>
            <a:ext cx="532911" cy="8882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stCxn id="22" idx="3"/>
            <a:endCxn id="23" idx="1"/>
          </p:cNvCxnSpPr>
          <p:nvPr/>
        </p:nvCxnSpPr>
        <p:spPr>
          <a:xfrm flipV="1">
            <a:off x="5696316" y="2490853"/>
            <a:ext cx="444093" cy="13322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stCxn id="23" idx="3"/>
            <a:endCxn id="24" idx="1"/>
          </p:cNvCxnSpPr>
          <p:nvPr/>
        </p:nvCxnSpPr>
        <p:spPr>
          <a:xfrm>
            <a:off x="6850958" y="2490853"/>
            <a:ext cx="355275" cy="4440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>
            <a:stCxn id="24" idx="3"/>
            <a:endCxn id="25" idx="1"/>
          </p:cNvCxnSpPr>
          <p:nvPr/>
        </p:nvCxnSpPr>
        <p:spPr>
          <a:xfrm>
            <a:off x="7916782" y="2535262"/>
            <a:ext cx="444093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stCxn id="25" idx="3"/>
            <a:endCxn id="26" idx="1"/>
          </p:cNvCxnSpPr>
          <p:nvPr/>
        </p:nvCxnSpPr>
        <p:spPr>
          <a:xfrm flipV="1">
            <a:off x="9337880" y="2002350"/>
            <a:ext cx="977004" cy="53291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stCxn id="27" idx="2"/>
            <a:endCxn id="7" idx="0"/>
          </p:cNvCxnSpPr>
          <p:nvPr/>
        </p:nvCxnSpPr>
        <p:spPr>
          <a:xfrm>
            <a:off x="1788297" y="4133998"/>
            <a:ext cx="0" cy="2664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29" idx="2"/>
            <a:endCxn id="8" idx="0"/>
          </p:cNvCxnSpPr>
          <p:nvPr/>
        </p:nvCxnSpPr>
        <p:spPr>
          <a:xfrm>
            <a:off x="3919944" y="4133998"/>
            <a:ext cx="0" cy="355274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stCxn id="32" idx="2"/>
            <a:endCxn id="9" idx="0"/>
          </p:cNvCxnSpPr>
          <p:nvPr/>
        </p:nvCxnSpPr>
        <p:spPr>
          <a:xfrm>
            <a:off x="6051591" y="4222816"/>
            <a:ext cx="0" cy="2664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stCxn id="37" idx="2"/>
            <a:endCxn id="10" idx="0"/>
          </p:cNvCxnSpPr>
          <p:nvPr/>
        </p:nvCxnSpPr>
        <p:spPr>
          <a:xfrm>
            <a:off x="9071424" y="4222817"/>
            <a:ext cx="0" cy="26645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7" idx="3"/>
            <a:endCxn id="8" idx="1"/>
          </p:cNvCxnSpPr>
          <p:nvPr/>
        </p:nvCxnSpPr>
        <p:spPr>
          <a:xfrm>
            <a:off x="2498846" y="5244231"/>
            <a:ext cx="710549" cy="8881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stCxn id="8" idx="3"/>
            <a:endCxn id="9" idx="1"/>
          </p:cNvCxnSpPr>
          <p:nvPr/>
        </p:nvCxnSpPr>
        <p:spPr>
          <a:xfrm>
            <a:off x="4630493" y="5333049"/>
            <a:ext cx="710549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stCxn id="36" idx="2"/>
            <a:endCxn id="10" idx="0"/>
          </p:cNvCxnSpPr>
          <p:nvPr/>
        </p:nvCxnSpPr>
        <p:spPr>
          <a:xfrm>
            <a:off x="7916782" y="4045179"/>
            <a:ext cx="1154642" cy="444093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stCxn id="10" idx="3"/>
            <a:endCxn id="41" idx="1"/>
          </p:cNvCxnSpPr>
          <p:nvPr/>
        </p:nvCxnSpPr>
        <p:spPr>
          <a:xfrm>
            <a:off x="9781973" y="5288639"/>
            <a:ext cx="355274" cy="35527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72610" y="1425030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900">
                <a:solidFill>
                  <a:srgbClr val="000000"/>
                </a:solidFill>
              </a:rPr>
              <a:t>Down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59215" y="1536053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Up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54516" y="5199821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6163" y="5244230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37247" y="3512267"/>
            <a:ext cx="1421098" cy="13322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03861" y="3678802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37010" y="3578881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Trainable (training only)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03861" y="4078486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37010" y="3978565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Frozen (training only)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03861" y="4478170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37010" y="4378249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l"/>
            <a:r>
              <a:rPr sz="900">
                <a:solidFill>
                  <a:srgbClr val="000000"/>
                </a:solidFill>
              </a:rPr>
              <a:t>Used in inference (no training)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0111" y="3423449"/>
            <a:ext cx="1954010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500">
                <a:solidFill>
                  <a:srgbClr val="000000"/>
                </a:solidFill>
              </a:rPr>
              <a:t>(All phases operate on the architecture in WHAT)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74586" y="1735895"/>
            <a:ext cx="532912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500">
                <a:solidFill>
                  <a:srgbClr val="000000"/>
                </a:solidFill>
              </a:rPr>
              <a:t>(Continuous)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63405" y="2357625"/>
            <a:ext cx="444093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500">
                <a:solidFill>
                  <a:srgbClr val="000000"/>
                </a:solidFill>
              </a:rPr>
              <a:t>(discrete)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75851" y="5910370"/>
            <a:ext cx="977005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800">
                <a:solidFill>
                  <a:srgbClr val="000000"/>
                </a:solidFill>
              </a:rPr>
              <a:t>LoRA plugged 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04968" y="5999189"/>
            <a:ext cx="799368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800">
                <a:solidFill>
                  <a:srgbClr val="000000"/>
                </a:solidFill>
              </a:rPr>
              <a:t>LoRA Removed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17414" y="4400454"/>
            <a:ext cx="355274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500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50326" y="4400454"/>
            <a:ext cx="355274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500">
                <a:solidFill>
                  <a:srgbClr val="000000"/>
                </a:solidFill>
              </a:rPr>
              <a:t>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