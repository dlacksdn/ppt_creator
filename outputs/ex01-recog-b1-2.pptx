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3655" y="225979"/>
            <a:ext cx="11013509" cy="648375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>
            <a:noAutofit/>
          </a:bodyPr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877906" y="392514"/>
            <a:ext cx="10525006" cy="286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>
            <a:no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WHAT : Model Architecture (structure only)</a:t>
            </a:r>
          </a:p>
        </p:txBody>
      </p:sp>
      <p:sp>
        <p:nvSpPr>
          <p:cNvPr id="4" name="Rectangle 3"/>
          <p:cNvSpPr/>
          <p:nvPr/>
        </p:nvSpPr>
        <p:spPr>
          <a:xfrm>
            <a:off x="877906" y="3412347"/>
            <a:ext cx="10680439" cy="286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>
            <a:no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HOW : Multi-Phase Training then Inference (Style-Action Decoupling)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339" y="847709"/>
            <a:ext cx="2398103" cy="213164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>
            <a:no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Data Source : GF-Minecraft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31125" y="847709"/>
            <a:ext cx="7460764" cy="222046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>
            <a:no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Latent Video Diffusion Transformer (VAE compression r=4)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5543" y="4455965"/>
            <a:ext cx="1454405" cy="166534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>
            <a:no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Phase #0 Pre-train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98372" y="4455965"/>
            <a:ext cx="1454405" cy="166534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>
            <a:no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Phase #1 Train LoRA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7656" y="4455965"/>
            <a:ext cx="1454405" cy="166534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>
            <a:no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Phase #2 Train Action Module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38670" y="4455965"/>
            <a:ext cx="1454405" cy="166534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>
            <a:no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Phase #3 Inference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30177" y="1647076"/>
            <a:ext cx="5062661" cy="142109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>
            <a:no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Action Control Module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43888" y="1202983"/>
            <a:ext cx="977005" cy="266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700">
                <a:solidFill>
                  <a:srgbClr val="000000"/>
                </a:solidFill>
              </a:rPr>
              <a:t>MineDojo Simulator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8613" y="1735895"/>
            <a:ext cx="1687554" cy="266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700">
                <a:solidFill>
                  <a:srgbClr val="000000"/>
                </a:solidFill>
              </a:rPr>
              <a:t>Unbiased Atomic Actions (uniform dist.)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77116" y="2179988"/>
            <a:ext cx="621730" cy="1776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900">
                <a:solidFill>
                  <a:srgbClr val="000000"/>
                </a:solidFill>
              </a:rPr>
              <a:t>MiniCPM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77432" y="2446444"/>
            <a:ext cx="1509916" cy="35527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700">
                <a:solidFill>
                  <a:srgbClr val="000000"/>
                </a:solidFill>
              </a:rPr>
              <a:t>GF-Minecraft Dataset (video, keyboard K, Mouse M, Prompt P)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41358" y="1114165"/>
            <a:ext cx="5950847" cy="266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Backbone Feature F (intermediate latent - prompt already fused)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30177" y="1913532"/>
            <a:ext cx="799368" cy="1776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600">
                <a:solidFill>
                  <a:srgbClr val="000000"/>
                </a:solidFill>
              </a:rPr>
              <a:t>Mouse Movement 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0409" y="1891328"/>
            <a:ext cx="710549" cy="21094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600">
                <a:solidFill>
                  <a:srgbClr val="000000"/>
                </a:solidFill>
              </a:rPr>
              <a:t>Grouping (w=3)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50642" y="1824714"/>
            <a:ext cx="621730" cy="35527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700">
                <a:solidFill>
                  <a:srgbClr val="000000"/>
                </a:solidFill>
              </a:rPr>
              <a:t>Repeat (align length)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72135" y="1891328"/>
            <a:ext cx="821572" cy="23314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600">
                <a:solidFill>
                  <a:srgbClr val="000000"/>
                </a:solidFill>
              </a:rPr>
              <a:t>Concatenate with 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49061" y="1735895"/>
            <a:ext cx="532912" cy="532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800">
                <a:solidFill>
                  <a:srgbClr val="000000"/>
                </a:solidFill>
              </a:rPr>
              <a:t>MLP -&gt; Temporal Self-Attention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74586" y="2535263"/>
            <a:ext cx="710549" cy="1776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500">
                <a:solidFill>
                  <a:srgbClr val="000000"/>
                </a:solidFill>
              </a:rPr>
              <a:t>Keyboard Action 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0409" y="2490853"/>
            <a:ext cx="710549" cy="266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700">
                <a:solidFill>
                  <a:srgbClr val="000000"/>
                </a:solidFill>
              </a:rPr>
              <a:t>Embed + Pos. Encoding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06233" y="2513058"/>
            <a:ext cx="710549" cy="21094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600">
                <a:solidFill>
                  <a:srgbClr val="000000"/>
                </a:solidFill>
              </a:rPr>
              <a:t>Grouping (w=3)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60875" y="2446444"/>
            <a:ext cx="977005" cy="35527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700">
                <a:solidFill>
                  <a:srgbClr val="000000"/>
                </a:solidFill>
              </a:rPr>
              <a:t>Cross-Attention (K=Key/Value, F=Query)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314884" y="1913532"/>
            <a:ext cx="532912" cy="1776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500">
                <a:solidFill>
                  <a:srgbClr val="000000"/>
                </a:solidFill>
              </a:rPr>
              <a:t>Fused Feature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77748" y="3734314"/>
            <a:ext cx="1409996" cy="44409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900">
                <a:solidFill>
                  <a:srgbClr val="000000"/>
                </a:solidFill>
              </a:rPr>
              <a:t>Open-Domain Data (internet videos, no action labels)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88613" y="4900058"/>
            <a:ext cx="810470" cy="24425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Base Model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20576" y="3734314"/>
            <a:ext cx="1409996" cy="44409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GF-Minecraft (action-labeled)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20339" y="4911161"/>
            <a:ext cx="821572" cy="23314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Base Model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31441" y="5255333"/>
            <a:ext cx="810470" cy="24425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LoRA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29860" y="3734314"/>
            <a:ext cx="1409996" cy="44409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GF-Minecraft (action-labeled)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29623" y="4911161"/>
            <a:ext cx="821572" cy="23314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Base Model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40726" y="5255333"/>
            <a:ext cx="810470" cy="24425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LoRA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40726" y="5643914"/>
            <a:ext cx="799368" cy="35527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900">
                <a:solidFill>
                  <a:srgbClr val="000000"/>
                </a:solidFill>
              </a:rPr>
              <a:t>Action Control Module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50326" y="3867542"/>
            <a:ext cx="532912" cy="1776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500">
                <a:solidFill>
                  <a:srgbClr val="000000"/>
                </a:solidFill>
              </a:rPr>
              <a:t>Keyboard / Mouse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60875" y="3689905"/>
            <a:ext cx="1421098" cy="532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Open-Domain Prompt (new unseen scene)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60638" y="4911161"/>
            <a:ext cx="821572" cy="23314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Base Model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60638" y="5266435"/>
            <a:ext cx="821572" cy="23314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LoRA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27331" y="5688324"/>
            <a:ext cx="888186" cy="266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700">
                <a:solidFill>
                  <a:srgbClr val="000000"/>
                </a:solidFill>
              </a:rPr>
              <a:t>Action Control Module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137247" y="5288640"/>
            <a:ext cx="1421098" cy="71054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>
            <a:no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Output Action-Controllable Open-Domain Game Video</a:t>
            </a:r>
          </a:p>
        </p:txBody>
      </p:sp>
      <p:cxnSp>
        <p:nvCxnSpPr>
          <p:cNvPr id="42" name="Connector 41"/>
          <p:cNvCxnSpPr>
            <a:stCxn id="12" idx="2"/>
            <a:endCxn id="13" idx="0"/>
          </p:cNvCxnSpPr>
          <p:nvPr/>
        </p:nvCxnSpPr>
        <p:spPr>
          <a:xfrm>
            <a:off x="2232390" y="1469439"/>
            <a:ext cx="0" cy="266456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>
            <a:stCxn id="13" idx="2"/>
            <a:endCxn id="14" idx="0"/>
          </p:cNvCxnSpPr>
          <p:nvPr/>
        </p:nvCxnSpPr>
        <p:spPr>
          <a:xfrm flipH="1">
            <a:off x="2187981" y="2002351"/>
            <a:ext cx="44409" cy="177637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>
            <a:stCxn id="14" idx="2"/>
            <a:endCxn id="15" idx="0"/>
          </p:cNvCxnSpPr>
          <p:nvPr/>
        </p:nvCxnSpPr>
        <p:spPr>
          <a:xfrm>
            <a:off x="2187981" y="2357625"/>
            <a:ext cx="44409" cy="88819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>
            <a:stCxn id="16" idx="2"/>
            <a:endCxn id="11" idx="0"/>
          </p:cNvCxnSpPr>
          <p:nvPr/>
        </p:nvCxnSpPr>
        <p:spPr>
          <a:xfrm flipH="1">
            <a:off x="7561507" y="1380621"/>
            <a:ext cx="355274" cy="266455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>
            <a:stCxn id="26" idx="1"/>
            <a:endCxn id="16" idx="3"/>
          </p:cNvCxnSpPr>
          <p:nvPr/>
        </p:nvCxnSpPr>
        <p:spPr>
          <a:xfrm flipV="1">
            <a:off x="10314884" y="1247393"/>
            <a:ext cx="577321" cy="754957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>
            <a:stCxn id="17" idx="3"/>
            <a:endCxn id="18" idx="1"/>
          </p:cNvCxnSpPr>
          <p:nvPr/>
        </p:nvCxnSpPr>
        <p:spPr>
          <a:xfrm flipV="1">
            <a:off x="5829545" y="1996800"/>
            <a:ext cx="310864" cy="555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>
            <a:stCxn id="18" idx="3"/>
            <a:endCxn id="19" idx="1"/>
          </p:cNvCxnSpPr>
          <p:nvPr/>
        </p:nvCxnSpPr>
        <p:spPr>
          <a:xfrm>
            <a:off x="6850958" y="1996800"/>
            <a:ext cx="399684" cy="5551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>
            <a:stCxn id="19" idx="3"/>
            <a:endCxn id="20" idx="1"/>
          </p:cNvCxnSpPr>
          <p:nvPr/>
        </p:nvCxnSpPr>
        <p:spPr>
          <a:xfrm>
            <a:off x="7872372" y="2002351"/>
            <a:ext cx="299763" cy="5551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>
            <a:stCxn id="20" idx="3"/>
            <a:endCxn id="21" idx="1"/>
          </p:cNvCxnSpPr>
          <p:nvPr/>
        </p:nvCxnSpPr>
        <p:spPr>
          <a:xfrm flipV="1">
            <a:off x="8993707" y="2002351"/>
            <a:ext cx="255354" cy="5551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>
            <a:stCxn id="21" idx="3"/>
            <a:endCxn id="26" idx="1"/>
          </p:cNvCxnSpPr>
          <p:nvPr/>
        </p:nvCxnSpPr>
        <p:spPr>
          <a:xfrm flipV="1">
            <a:off x="9781973" y="2002350"/>
            <a:ext cx="532911" cy="1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>
            <a:stCxn id="22" idx="3"/>
            <a:endCxn id="23" idx="1"/>
          </p:cNvCxnSpPr>
          <p:nvPr/>
        </p:nvCxnSpPr>
        <p:spPr>
          <a:xfrm>
            <a:off x="5785135" y="2624081"/>
            <a:ext cx="355274" cy="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>
            <a:stCxn id="23" idx="3"/>
            <a:endCxn id="24" idx="1"/>
          </p:cNvCxnSpPr>
          <p:nvPr/>
        </p:nvCxnSpPr>
        <p:spPr>
          <a:xfrm flipV="1">
            <a:off x="6850958" y="2618530"/>
            <a:ext cx="355275" cy="5551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>
            <a:stCxn id="24" idx="3"/>
            <a:endCxn id="25" idx="1"/>
          </p:cNvCxnSpPr>
          <p:nvPr/>
        </p:nvCxnSpPr>
        <p:spPr>
          <a:xfrm>
            <a:off x="7916782" y="2618530"/>
            <a:ext cx="444093" cy="5551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>
            <a:stCxn id="25" idx="3"/>
            <a:endCxn id="26" idx="1"/>
          </p:cNvCxnSpPr>
          <p:nvPr/>
        </p:nvCxnSpPr>
        <p:spPr>
          <a:xfrm flipV="1">
            <a:off x="9337880" y="2002350"/>
            <a:ext cx="977004" cy="621731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>
            <a:stCxn id="27" idx="2"/>
            <a:endCxn id="7" idx="0"/>
          </p:cNvCxnSpPr>
          <p:nvPr/>
        </p:nvCxnSpPr>
        <p:spPr>
          <a:xfrm flipH="1">
            <a:off x="1782745" y="4178407"/>
            <a:ext cx="1" cy="277558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>
            <a:stCxn id="29" idx="2"/>
            <a:endCxn id="8" idx="0"/>
          </p:cNvCxnSpPr>
          <p:nvPr/>
        </p:nvCxnSpPr>
        <p:spPr>
          <a:xfrm>
            <a:off x="3825574" y="4178407"/>
            <a:ext cx="0" cy="277558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>
            <a:stCxn id="32" idx="2"/>
            <a:endCxn id="9" idx="0"/>
          </p:cNvCxnSpPr>
          <p:nvPr/>
        </p:nvCxnSpPr>
        <p:spPr>
          <a:xfrm>
            <a:off x="6134858" y="4178407"/>
            <a:ext cx="0" cy="277558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>
            <a:stCxn id="37" idx="2"/>
            <a:endCxn id="10" idx="0"/>
          </p:cNvCxnSpPr>
          <p:nvPr/>
        </p:nvCxnSpPr>
        <p:spPr>
          <a:xfrm flipH="1">
            <a:off x="9065872" y="4222817"/>
            <a:ext cx="5552" cy="233148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>
            <a:stCxn id="7" idx="3"/>
            <a:endCxn id="8" idx="1"/>
          </p:cNvCxnSpPr>
          <p:nvPr/>
        </p:nvCxnSpPr>
        <p:spPr>
          <a:xfrm>
            <a:off x="2509948" y="5288639"/>
            <a:ext cx="588424" cy="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>
            <a:stCxn id="8" idx="3"/>
            <a:endCxn id="9" idx="1"/>
          </p:cNvCxnSpPr>
          <p:nvPr/>
        </p:nvCxnSpPr>
        <p:spPr>
          <a:xfrm>
            <a:off x="4552777" y="5288639"/>
            <a:ext cx="854879" cy="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>
            <a:stCxn id="36" idx="2"/>
            <a:endCxn id="10" idx="0"/>
          </p:cNvCxnSpPr>
          <p:nvPr/>
        </p:nvCxnSpPr>
        <p:spPr>
          <a:xfrm>
            <a:off x="7916782" y="4045179"/>
            <a:ext cx="1149090" cy="410786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>
            <a:stCxn id="10" idx="3"/>
            <a:endCxn id="41" idx="1"/>
          </p:cNvCxnSpPr>
          <p:nvPr/>
        </p:nvCxnSpPr>
        <p:spPr>
          <a:xfrm>
            <a:off x="9793075" y="5288639"/>
            <a:ext cx="344172" cy="355275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572610" y="1425030"/>
            <a:ext cx="333070" cy="177637"/>
          </a:xfrm>
          <a:prstGeom prst="rect">
            <a:avLst/>
          </a:prstGeom>
          <a:noFill/>
        </p:spPr>
        <p:txBody>
          <a:bodyPr wrap="square" anchor="ctr" lIns="9525" rIns="9525" tIns="9525" bIns="9525">
            <a:noAutofit/>
          </a:bodyPr>
          <a:lstStyle/>
          <a:p>
            <a:pPr algn="ctr"/>
            <a:r>
              <a:rPr sz="900">
                <a:solidFill>
                  <a:srgbClr val="000000"/>
                </a:solidFill>
              </a:rPr>
              <a:t>Down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437010" y="1536053"/>
            <a:ext cx="333070" cy="177637"/>
          </a:xfrm>
          <a:prstGeom prst="rect">
            <a:avLst/>
          </a:prstGeom>
          <a:noFill/>
        </p:spPr>
        <p:txBody>
          <a:bodyPr wrap="square" anchor="ctr" lIns="9525" rIns="9525" tIns="9525" bIns="9525">
            <a:no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Up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304555" y="5199821"/>
            <a:ext cx="999209" cy="177637"/>
          </a:xfrm>
          <a:prstGeom prst="rect">
            <a:avLst/>
          </a:prstGeom>
          <a:noFill/>
        </p:spPr>
        <p:txBody>
          <a:bodyPr wrap="square" anchor="ctr" lIns="9525" rIns="9525" tIns="9525" bIns="9525">
            <a:noAutofit/>
          </a:bodyPr>
          <a:lstStyle/>
          <a:p>
            <a:pPr algn="ctr"/>
            <a:r>
              <a:rPr sz="700">
                <a:solidFill>
                  <a:srgbClr val="000000"/>
                </a:solidFill>
              </a:rPr>
              <a:t>copy trained model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80611" y="5199821"/>
            <a:ext cx="999209" cy="177637"/>
          </a:xfrm>
          <a:prstGeom prst="rect">
            <a:avLst/>
          </a:prstGeom>
          <a:noFill/>
        </p:spPr>
        <p:txBody>
          <a:bodyPr wrap="square" anchor="ctr" lIns="9525" rIns="9525" tIns="9525" bIns="9525">
            <a:noAutofit/>
          </a:bodyPr>
          <a:lstStyle/>
          <a:p>
            <a:pPr algn="ctr"/>
            <a:r>
              <a:rPr sz="700">
                <a:solidFill>
                  <a:srgbClr val="000000"/>
                </a:solidFill>
              </a:rPr>
              <a:t>copy trained model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137247" y="3512267"/>
            <a:ext cx="1421098" cy="133227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203861" y="3678802"/>
            <a:ext cx="199842" cy="19984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437010" y="3578881"/>
            <a:ext cx="1054721" cy="399684"/>
          </a:xfrm>
          <a:prstGeom prst="rect">
            <a:avLst/>
          </a:prstGeom>
          <a:noFill/>
        </p:spPr>
        <p:txBody>
          <a:bodyPr wrap="square" anchor="ctr" lIns="9525" rIns="9525" tIns="9525" bIns="9525">
            <a:no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Trainable (training only)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203861" y="4078486"/>
            <a:ext cx="199842" cy="19984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437010" y="3978565"/>
            <a:ext cx="1054721" cy="399684"/>
          </a:xfrm>
          <a:prstGeom prst="rect">
            <a:avLst/>
          </a:prstGeom>
          <a:noFill/>
        </p:spPr>
        <p:txBody>
          <a:bodyPr wrap="square" anchor="ctr" lIns="9525" rIns="9525" tIns="9525" bIns="9525">
            <a:no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Frozen (training only)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203861" y="4478170"/>
            <a:ext cx="199842" cy="19984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437010" y="4378249"/>
            <a:ext cx="1054721" cy="399684"/>
          </a:xfrm>
          <a:prstGeom prst="rect">
            <a:avLst/>
          </a:prstGeom>
          <a:noFill/>
        </p:spPr>
        <p:txBody>
          <a:bodyPr wrap="square" anchor="ctr" lIns="9525" rIns="9525" tIns="9525" bIns="9525">
            <a:noAutofit/>
          </a:bodyPr>
          <a:lstStyle/>
          <a:p>
            <a:pPr algn="l"/>
            <a:r>
              <a:rPr sz="900">
                <a:solidFill>
                  <a:srgbClr val="000000"/>
                </a:solidFill>
              </a:rPr>
              <a:t>Used in inference (no training)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0111" y="3423449"/>
            <a:ext cx="1954010" cy="177637"/>
          </a:xfrm>
          <a:prstGeom prst="rect">
            <a:avLst/>
          </a:prstGeom>
          <a:noFill/>
        </p:spPr>
        <p:txBody>
          <a:bodyPr wrap="square" anchor="t" lIns="9525" rIns="9525" tIns="9525" bIns="9525">
            <a:noAutofit/>
          </a:bodyPr>
          <a:lstStyle/>
          <a:p>
            <a:pPr algn="l"/>
            <a:r>
              <a:rPr sz="500">
                <a:solidFill>
                  <a:srgbClr val="000000"/>
                </a:solidFill>
              </a:rPr>
              <a:t>(All phases operate on the architecture in WHAT)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74586" y="1735895"/>
            <a:ext cx="532912" cy="88819"/>
          </a:xfrm>
          <a:prstGeom prst="rect">
            <a:avLst/>
          </a:prstGeom>
          <a:noFill/>
        </p:spPr>
        <p:txBody>
          <a:bodyPr wrap="square" anchor="t" lIns="9525" rIns="9525" tIns="9525" bIns="9525">
            <a:noAutofit/>
          </a:bodyPr>
          <a:lstStyle/>
          <a:p>
            <a:pPr algn="l"/>
            <a:r>
              <a:rPr sz="500">
                <a:solidFill>
                  <a:srgbClr val="000000"/>
                </a:solidFill>
              </a:rPr>
              <a:t>(Continuous)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163405" y="2357625"/>
            <a:ext cx="444093" cy="88819"/>
          </a:xfrm>
          <a:prstGeom prst="rect">
            <a:avLst/>
          </a:prstGeom>
          <a:noFill/>
        </p:spPr>
        <p:txBody>
          <a:bodyPr wrap="square" anchor="t" lIns="9525" rIns="9525" tIns="9525" bIns="9525">
            <a:noAutofit/>
          </a:bodyPr>
          <a:lstStyle/>
          <a:p>
            <a:pPr algn="l"/>
            <a:r>
              <a:rPr sz="500">
                <a:solidFill>
                  <a:srgbClr val="000000"/>
                </a:solidFill>
              </a:rPr>
              <a:t>(discrete)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475851" y="5910370"/>
            <a:ext cx="977005" cy="177637"/>
          </a:xfrm>
          <a:prstGeom prst="rect">
            <a:avLst/>
          </a:prstGeom>
          <a:noFill/>
        </p:spPr>
        <p:txBody>
          <a:bodyPr wrap="square" anchor="t" lIns="9525" rIns="9525" tIns="9525" bIns="9525">
            <a:noAutofit/>
          </a:bodyPr>
          <a:lstStyle/>
          <a:p>
            <a:pPr algn="l"/>
            <a:r>
              <a:rPr sz="800">
                <a:solidFill>
                  <a:srgbClr val="000000"/>
                </a:solidFill>
              </a:rPr>
              <a:t>LoRA plugged in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804968" y="5999189"/>
            <a:ext cx="799368" cy="177637"/>
          </a:xfrm>
          <a:prstGeom prst="rect">
            <a:avLst/>
          </a:prstGeom>
          <a:noFill/>
        </p:spPr>
        <p:txBody>
          <a:bodyPr wrap="square" anchor="t" lIns="9525" rIns="9525" tIns="9525" bIns="9525">
            <a:noAutofit/>
          </a:bodyPr>
          <a:lstStyle/>
          <a:p>
            <a:pPr algn="l"/>
            <a:r>
              <a:rPr sz="800">
                <a:solidFill>
                  <a:srgbClr val="000000"/>
                </a:solidFill>
              </a:rPr>
              <a:t>LoRA Removed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117414" y="4400454"/>
            <a:ext cx="355274" cy="88819"/>
          </a:xfrm>
          <a:prstGeom prst="rect">
            <a:avLst/>
          </a:prstGeom>
          <a:noFill/>
        </p:spPr>
        <p:txBody>
          <a:bodyPr wrap="square" anchor="t" lIns="9525" rIns="9525" tIns="9525" bIns="9525">
            <a:noAutofit/>
          </a:bodyPr>
          <a:lstStyle/>
          <a:p>
            <a:pPr algn="l"/>
            <a:r>
              <a:rPr sz="500">
                <a:solidFill>
                  <a:srgbClr val="000000"/>
                </a:solidFill>
              </a:rPr>
              <a:t>Training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650326" y="4400454"/>
            <a:ext cx="355274" cy="88819"/>
          </a:xfrm>
          <a:prstGeom prst="rect">
            <a:avLst/>
          </a:prstGeom>
          <a:noFill/>
        </p:spPr>
        <p:txBody>
          <a:bodyPr wrap="square" anchor="t" lIns="9525" rIns="9525" tIns="9525" bIns="9525">
            <a:noAutofit/>
          </a:bodyPr>
          <a:lstStyle/>
          <a:p>
            <a:pPr algn="l"/>
            <a:r>
              <a:rPr sz="500">
                <a:solidFill>
                  <a:srgbClr val="000000"/>
                </a:solidFill>
              </a:rPr>
              <a:t>Inference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